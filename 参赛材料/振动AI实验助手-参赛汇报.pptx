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讲解参考：参赛材料/演示步骤与讲稿.md。所有待验证内容需按实际情况更新，不编造团队身份、模型实测或公开网址。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讲解参考：参赛材料/演示步骤与讲稿.md。所有待验证内容需按实际情况更新，不编造团队身份、模型实测或公开网址。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讲解参考：参赛材料/演示步骤与讲稿.md。所有待验证内容需按实际情况更新，不编造团队身份、模型实测或公开网址。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讲解参考：参赛材料/演示步骤与讲稿.md。所有待验证内容需按实际情况更新，不编造团队身份、模型实测或公开网址。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讲解参考：参赛材料/演示步骤与讲稿.md。所有待验证内容需按实际情况更新，不编造团队身份、模型实测或公开网址。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讲解参考：参赛材料/演示步骤与讲稿.md。所有待验证内容需按实际情况更新，不编造团队身份、模型实测或公开网址。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讲解参考：参赛材料/演示步骤与讲稿.md。所有待验证内容需按实际情况更新，不编造团队身份、模型实测或公开网址。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讲解参考：参赛材料/演示步骤与讲稿.md。所有待验证内容需按实际情况更新，不编造团队身份、模型实测或公开网址。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3200" b="1">
                <a:solidFill>
                  <a:srgbClr val="EDF4FC"/>
                </a:solidFill>
                <a:latin typeface="Microsoft YaHei"/>
              </a:defRPr>
            </a:pPr>
            <a:r>
              <a:t>振动 AI 实验助手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4000" b="1">
                <a:solidFill>
                  <a:srgbClr val="49E2BE"/>
                </a:solidFill>
                <a:latin typeface="Microsoft YaHei"/>
              </a:defRPr>
            </a:pPr>
            <a:r>
              <a:t>用自然语言组织实验</a:t>
            </a:r>
          </a:p>
          <a:p>
            <a:pPr>
              <a:spcAft>
                <a:spcPts val="1500"/>
              </a:spcAft>
              <a:defRPr sz="4000" b="1">
                <a:solidFill>
                  <a:srgbClr val="49E2BE"/>
                </a:solidFill>
                <a:latin typeface="Microsoft YaHei"/>
              </a:defRPr>
            </a:pPr>
            <a:r>
              <a:t>用原始动力学模型计算结果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4348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0">
                <a:solidFill>
                  <a:srgbClr val="A8B9CD"/>
                </a:solidFill>
                <a:latin typeface="Microsoft YaHei"/>
              </a:defRPr>
            </a:pPr>
            <a:r>
              <a:t>科研创新方向 · 六状态非线性振动研究原型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235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900" b="0">
                <a:solidFill>
                  <a:srgbClr val="A8B9CD"/>
                </a:solidFill>
                <a:latin typeface="Microsoft YaHei"/>
              </a:defRPr>
            </a:pPr>
            <a:r>
              <a:t>团队 / 姓名 / 学校：待填写真实信息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502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300" b="0">
                <a:solidFill>
                  <a:srgbClr val="A8B9CD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3200" b="1">
                <a:solidFill>
                  <a:srgbClr val="EDF4FC"/>
                </a:solidFill>
                <a:latin typeface="Microsoft YaHei"/>
              </a:defRPr>
            </a:pPr>
            <a:r>
              <a:t>已有脚本，需要更容易核对的实验过程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91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700" b="1">
                <a:solidFill>
                  <a:srgbClr val="49E2BE"/>
                </a:solidFill>
                <a:latin typeface="Microsoft YaHei"/>
              </a:defRPr>
            </a:pPr>
            <a:r>
              <a:t>反复改参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参数分散在代码中</a:t>
            </a:r>
          </a:p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多组结果容易混淆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691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700" b="1">
                <a:solidFill>
                  <a:srgbClr val="49E2BE"/>
                </a:solidFill>
                <a:latin typeface="Microsoft YaHei"/>
              </a:defRPr>
            </a:pPr>
            <a:r>
              <a:t>文件参数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46888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参数需要手工摘录</a:t>
            </a:r>
          </a:p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需要保留原文与页码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700" b="1">
                <a:solidFill>
                  <a:srgbClr val="49E2BE"/>
                </a:solidFill>
                <a:latin typeface="Microsoft YaHei"/>
              </a:defRPr>
            </a:pPr>
            <a:r>
              <a:t>AI建议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46888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理解可能出错</a:t>
            </a:r>
          </a:p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需要校验并重新求解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377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0">
                <a:solidFill>
                  <a:srgbClr val="A8B9CD"/>
                </a:solidFill>
                <a:latin typeface="Microsoft YaHei"/>
              </a:defRPr>
            </a:pPr>
            <a:r>
              <a:t>目标用户：动力学学习者与初步参数探索人员</a:t>
            </a:r>
          </a:p>
          <a:p>
            <a:pPr>
              <a:spcAft>
                <a:spcPts val="1500"/>
              </a:spcAft>
              <a:defRPr sz="2200" b="0">
                <a:solidFill>
                  <a:srgbClr val="A8B9CD"/>
                </a:solidFill>
                <a:latin typeface="Microsoft YaHei"/>
              </a:defRPr>
            </a:pPr>
            <a:r>
              <a:t>应用价值仍需结合具体课题和用户验证。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502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300" b="0">
                <a:solidFill>
                  <a:srgbClr val="A8B9CD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3200" b="1">
                <a:solidFill>
                  <a:srgbClr val="EDF4FC"/>
                </a:solidFill>
                <a:latin typeface="Microsoft YaHei"/>
              </a:defRPr>
            </a:pPr>
            <a:r>
              <a:t>两种输入方式，共用一套参数和求解器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700" b="1">
                <a:solidFill>
                  <a:srgbClr val="49E2BE"/>
                </a:solidFill>
                <a:latin typeface="Microsoft YaHei"/>
              </a:defRPr>
            </a:pPr>
            <a:r>
              <a:t>手动调参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400" b="0">
                <a:solidFill>
                  <a:srgbClr val="EDF4FC"/>
                </a:solidFill>
                <a:latin typeface="Microsoft YaHei"/>
              </a:defRPr>
            </a:pPr>
            <a:r>
              <a:t>原代码默认值完整保留</a:t>
            </a:r>
          </a:p>
          <a:p>
            <a:pPr>
              <a:spcAft>
                <a:spcPts val="1500"/>
              </a:spcAft>
              <a:defRPr sz="2400" b="0">
                <a:solidFill>
                  <a:srgbClr val="EDF4FC"/>
                </a:solidFill>
                <a:latin typeface="Microsoft YaHei"/>
              </a:defRPr>
            </a:pPr>
            <a:r>
              <a:t>所有原模型参数可编辑</a:t>
            </a:r>
          </a:p>
          <a:p>
            <a:pPr>
              <a:spcAft>
                <a:spcPts val="1500"/>
              </a:spcAft>
              <a:defRPr sz="2400" b="0">
                <a:solidFill>
                  <a:srgbClr val="EDF4FC"/>
                </a:solidFill>
                <a:latin typeface="Microsoft YaHei"/>
              </a:defRPr>
            </a:pPr>
            <a:r>
              <a:t>快速试算由用户主动选择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720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700" b="1">
                <a:solidFill>
                  <a:srgbClr val="49E2BE"/>
                </a:solidFill>
                <a:latin typeface="Microsoft YaHei"/>
              </a:defRPr>
            </a:pPr>
            <a:r>
              <a:t>自然语言与文档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257800"/>
            <a:ext cx="5943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0">
                <a:solidFill>
                  <a:srgbClr val="EDF4FC"/>
                </a:solidFill>
                <a:latin typeface="Microsoft YaHei"/>
              </a:defRPr>
            </a:pPr>
            <a:r>
              <a:t>自带密钥，选择模型</a:t>
            </a:r>
          </a:p>
          <a:p>
            <a:pPr>
              <a:spcAft>
                <a:spcPts val="1500"/>
              </a:spcAft>
              <a:defRPr sz="2200" b="0">
                <a:solidFill>
                  <a:srgbClr val="EDF4FC"/>
                </a:solidFill>
                <a:latin typeface="Microsoft YaHei"/>
              </a:defRPr>
            </a:pPr>
            <a:r>
              <a:t>参数补丁、计划、扫频与追问</a:t>
            </a:r>
          </a:p>
        </p:txBody>
      </p:sp>
      <p:pic>
        <p:nvPicPr>
          <p:cNvPr id="7" name="Picture 6" descr="页面参数截取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463040"/>
            <a:ext cx="3236609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0" y="502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300" b="0">
                <a:solidFill>
                  <a:srgbClr val="A8B9CD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3200" b="1">
                <a:solidFill>
                  <a:srgbClr val="EDF4FC"/>
                </a:solidFill>
                <a:latin typeface="Microsoft YaHei"/>
              </a:defRPr>
            </a:pPr>
            <a:r>
              <a:t>AI操作经过校验，再进入数值求解器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500" b="1">
                <a:solidFill>
                  <a:srgbClr val="49E2BE"/>
                </a:solidFill>
                <a:latin typeface="Microsoft YaHei"/>
              </a:defRPr>
            </a:pPr>
            <a:r>
              <a:t>01  需求与文档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50876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文本PDF保留来源页码，模型返回结构化参数操作。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500" b="1">
                <a:solidFill>
                  <a:srgbClr val="49E2BE"/>
                </a:solidFill>
                <a:latin typeface="Microsoft YaHei"/>
              </a:defRPr>
            </a:pPr>
            <a:r>
              <a:t>02  参数与来源校验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60604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检查参数白名单、数值范围、原文引文和计算规模。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03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500" b="1">
                <a:solidFill>
                  <a:srgbClr val="49E2BE"/>
                </a:solidFill>
                <a:latin typeface="Microsoft YaHei"/>
              </a:defRPr>
            </a:pPr>
            <a:r>
              <a:t>03  原方程积分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70332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沿用原始六状态方程与积分方法，输出真实数值和曲线。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006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500" b="1">
                <a:solidFill>
                  <a:srgbClr val="49E2BE"/>
                </a:solidFill>
                <a:latin typeface="Microsoft YaHei"/>
              </a:defRPr>
            </a:pPr>
            <a:r>
              <a:t>04  核对与导出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480060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结果解释使用已计算统计量，报告可供复核。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502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300" b="0">
                <a:solidFill>
                  <a:srgbClr val="A8B9CD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3200" b="1">
                <a:solidFill>
                  <a:srgbClr val="EDF4FC"/>
                </a:solidFill>
                <a:latin typeface="Microsoft YaHei"/>
              </a:defRPr>
            </a:pPr>
            <a:r>
              <a:t>一次实验输出四类图与可比较统计量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81928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300" b="0">
                <a:solidFill>
                  <a:srgbClr val="A8B9CD"/>
                </a:solidFill>
                <a:latin typeface="Microsoft YaHei"/>
              </a:defRPr>
            </a:pPr>
            <a:r>
              <a:t>截图来自本机快速配置的实际运行，不代表真实设备数据。</a:t>
            </a:r>
          </a:p>
        </p:txBody>
      </p:sp>
      <p:pic>
        <p:nvPicPr>
          <p:cNvPr id="4" name="Picture 3" descr="页面结果截取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8760"/>
            <a:ext cx="256028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977639" y="1965960"/>
            <a:ext cx="7406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600" b="0">
                <a:solidFill>
                  <a:srgbClr val="EDF4FC"/>
                </a:solidFill>
                <a:latin typeface="Microsoft YaHei"/>
              </a:defRPr>
            </a:pPr>
            <a:r>
              <a:t>时域与频谱</a:t>
            </a:r>
          </a:p>
          <a:p>
            <a:pPr>
              <a:spcAft>
                <a:spcPts val="1500"/>
              </a:spcAft>
              <a:defRPr sz="2600" b="0">
                <a:solidFill>
                  <a:srgbClr val="EDF4FC"/>
                </a:solidFill>
                <a:latin typeface="Microsoft YaHei"/>
              </a:defRPr>
            </a:pPr>
            <a:r>
              <a:t>相轨迹：y5 与状态速度 y6</a:t>
            </a:r>
          </a:p>
          <a:p>
            <a:pPr>
              <a:spcAft>
                <a:spcPts val="1500"/>
              </a:spcAft>
              <a:defRPr sz="2600" b="0">
                <a:solidFill>
                  <a:srgbClr val="EDF4FC"/>
                </a:solidFill>
                <a:latin typeface="Microsoft YaHei"/>
              </a:defRPr>
            </a:pPr>
            <a:r>
              <a:t>庞加莱截面：按激励周期采样</a:t>
            </a:r>
          </a:p>
          <a:p>
            <a:pPr>
              <a:spcAft>
                <a:spcPts val="1500"/>
              </a:spcAft>
              <a:defRPr sz="2600" b="0">
                <a:solidFill>
                  <a:srgbClr val="EDF4FC"/>
                </a:solidFill>
                <a:latin typeface="Microsoft YaHei"/>
              </a:defRPr>
            </a:pPr>
            <a:r>
              <a:t>RMS、峰值、主频与导出报告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502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300" b="0">
                <a:solidFill>
                  <a:srgbClr val="A8B9CD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3200" b="1">
                <a:solidFill>
                  <a:srgbClr val="EDF4FC"/>
                </a:solidFill>
                <a:latin typeface="Microsoft YaHei"/>
              </a:defRPr>
            </a:pPr>
            <a:r>
              <a:t>自动化流程已有验证，真实模型仍待评测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91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500" b="1">
                <a:solidFill>
                  <a:srgbClr val="49E2BE"/>
                </a:solidFill>
                <a:latin typeface="Microsoft YaHei"/>
              </a:defRPr>
            </a:pPr>
            <a:r>
              <a:t>已验证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4640" y="1691640"/>
            <a:ext cx="8503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模拟兼容接口、聊天HTTP路由、参数拒绝、来源核对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432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500" b="1">
                <a:solidFill>
                  <a:srgbClr val="49E2BE"/>
                </a:solidFill>
                <a:latin typeface="Microsoft YaHei"/>
              </a:defRPr>
            </a:pPr>
            <a:r>
              <a:t>真实计算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2743200"/>
            <a:ext cx="8503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6点扫频、网页快速仿真、导出与对话状态检查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947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500" b="1">
                <a:solidFill>
                  <a:srgbClr val="49E2BE"/>
                </a:solidFill>
                <a:latin typeface="Microsoft YaHei"/>
              </a:defRPr>
            </a:pPr>
            <a:r>
              <a:t>公网保护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3794760"/>
            <a:ext cx="8503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访问口令、来源检查、服务商地址限制、计算超时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463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500" b="1">
                <a:solidFill>
                  <a:srgbClr val="49E2BE"/>
                </a:solidFill>
                <a:latin typeface="Microsoft YaHei"/>
              </a:defRPr>
            </a:pPr>
            <a:r>
              <a:t>待验证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4846320"/>
            <a:ext cx="8503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EDF4FC"/>
                </a:solidFill>
                <a:latin typeface="Microsoft YaHei"/>
              </a:defRPr>
            </a:pPr>
            <a:r>
              <a:t>真实模型解析准确率、真实账号部署、跨设备体验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502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300" b="0">
                <a:solidFill>
                  <a:srgbClr val="A8B9CD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3200" b="1">
                <a:solidFill>
                  <a:srgbClr val="EDF4FC"/>
                </a:solidFill>
                <a:latin typeface="Microsoft YaHei"/>
              </a:defRPr>
            </a:pPr>
            <a:r>
              <a:t>代理学习的推荐，必须经过物理复算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81928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300" b="0">
                <a:solidFill>
                  <a:srgbClr val="A8B9CD"/>
                </a:solidFill>
                <a:latin typeface="Microsoft YaHei"/>
              </a:defRPr>
            </a:pPr>
            <a:r>
              <a:t>来源：示例AI实验结果.json。数值来自单次仿真实验，不能外推为稳定工程效果。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600" b="0">
                <a:solidFill>
                  <a:srgbClr val="EDF4FC"/>
                </a:solidFill>
                <a:latin typeface="Microsoft YaHei"/>
              </a:defRPr>
            </a:pPr>
            <a:r>
              <a:t>36 组仿真样本</a:t>
            </a:r>
          </a:p>
          <a:p>
            <a:pPr>
              <a:spcAft>
                <a:spcPts val="1500"/>
              </a:spcAft>
              <a:defRPr sz="2600" b="0">
                <a:solidFill>
                  <a:srgbClr val="EDF4FC"/>
                </a:solidFill>
                <a:latin typeface="Microsoft YaHei"/>
              </a:defRPr>
            </a:pPr>
            <a:r>
              <a:t>27 组训练，9 组独立留出测试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92608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579120"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EDF4FC"/>
                          </a:solidFill>
                          <a:latin typeface="Microsoft YaHei"/>
                        </a:defRPr>
                      </a:pPr>
                      <a:r>
                        <a:t>评估指标</a:t>
                      </a:r>
                    </a:p>
                  </a:txBody>
                  <a:tcPr>
                    <a:solidFill>
                      <a:srgbClr val="192E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EDF4FC"/>
                          </a:solidFill>
                          <a:latin typeface="Microsoft YaHei"/>
                        </a:defRPr>
                      </a:pPr>
                      <a:r>
                        <a:t>本次示例</a:t>
                      </a:r>
                    </a:p>
                  </a:txBody>
                  <a:tcPr>
                    <a:solidFill>
                      <a:srgbClr val="192E46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EDF4FC"/>
                          </a:solidFill>
                          <a:latin typeface="Microsoft YaHei"/>
                        </a:defRPr>
                      </a:pPr>
                      <a:r>
                        <a:t>RBF 测试 MAE</a:t>
                      </a:r>
                    </a:p>
                  </a:txBody>
                  <a:tcPr>
                    <a:solidFill>
                      <a:srgbClr val="192E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EDF4FC"/>
                          </a:solidFill>
                          <a:latin typeface="Microsoft YaHei"/>
                        </a:defRPr>
                      </a:pPr>
                      <a:r>
                        <a:t>0.021875</a:t>
                      </a:r>
                    </a:p>
                  </a:txBody>
                  <a:tcPr>
                    <a:solidFill>
                      <a:srgbClr val="192E46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EDF4FC"/>
                          </a:solidFill>
                          <a:latin typeface="Microsoft YaHei"/>
                        </a:defRPr>
                      </a:pPr>
                      <a:r>
                        <a:t>均值基线 MAE</a:t>
                      </a:r>
                    </a:p>
                  </a:txBody>
                  <a:tcPr>
                    <a:solidFill>
                      <a:srgbClr val="192E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EDF4FC"/>
                          </a:solidFill>
                          <a:latin typeface="Microsoft YaHei"/>
                        </a:defRPr>
                      </a:pPr>
                      <a:r>
                        <a:t>0.029162</a:t>
                      </a:r>
                    </a:p>
                  </a:txBody>
                  <a:tcPr>
                    <a:solidFill>
                      <a:srgbClr val="192E4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2880360"/>
            <a:ext cx="3931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300" b="0">
                <a:solidFill>
                  <a:srgbClr val="49E2BE"/>
                </a:solidFill>
                <a:latin typeface="Microsoft YaHei"/>
              </a:defRPr>
            </a:pPr>
            <a:r>
              <a:t>推荐复算未改善</a:t>
            </a:r>
          </a:p>
          <a:p>
            <a:pPr>
              <a:spcAft>
                <a:spcPts val="1500"/>
              </a:spcAft>
              <a:defRPr sz="2300" b="0">
                <a:solidFill>
                  <a:srgbClr val="49E2BE"/>
                </a:solidFill>
                <a:latin typeface="Microsoft YaHei"/>
              </a:defRPr>
            </a:pPr>
            <a:r>
              <a:t>约 −0.50% RMS 改善率</a:t>
            </a:r>
          </a:p>
          <a:p>
            <a:pPr>
              <a:spcAft>
                <a:spcPts val="1500"/>
              </a:spcAft>
              <a:defRPr sz="2300" b="0">
                <a:solidFill>
                  <a:srgbClr val="49E2BE"/>
                </a:solidFill>
                <a:latin typeface="Microsoft YaHei"/>
              </a:defRPr>
            </a:pPr>
            <a:r>
              <a:t>保留失败结果，避免夸大收益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502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300" b="0">
                <a:solidFill>
                  <a:srgbClr val="A8B9CD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3200" b="1">
                <a:solidFill>
                  <a:srgbClr val="EDF4FC"/>
                </a:solidFill>
                <a:latin typeface="Microsoft YaHei"/>
              </a:defRPr>
            </a:pPr>
            <a:r>
              <a:t>当前边界与参赛交付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700" b="1">
                <a:solidFill>
                  <a:srgbClr val="49E2BE"/>
                </a:solidFill>
                <a:latin typeface="Microsoft YaHei"/>
              </a:defRPr>
            </a:pPr>
            <a:r>
              <a:t>已提供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400" b="0">
                <a:solidFill>
                  <a:srgbClr val="EDF4FC"/>
                </a:solidFill>
                <a:latin typeface="Microsoft YaHei"/>
              </a:defRPr>
            </a:pPr>
            <a:r>
              <a:t>网页源码与本地启动</a:t>
            </a:r>
          </a:p>
          <a:p>
            <a:pPr>
              <a:spcAft>
                <a:spcPts val="1500"/>
              </a:spcAft>
              <a:defRPr sz="2400" b="0">
                <a:solidFill>
                  <a:srgbClr val="EDF4FC"/>
                </a:solidFill>
                <a:latin typeface="Microsoft YaHei"/>
              </a:defRPr>
            </a:pPr>
            <a:r>
              <a:t>Docker 与 HTTPS 部署配置</a:t>
            </a:r>
          </a:p>
          <a:p>
            <a:pPr>
              <a:spcAft>
                <a:spcPts val="1500"/>
              </a:spcAft>
              <a:defRPr sz="2400" b="0">
                <a:solidFill>
                  <a:srgbClr val="EDF4FC"/>
                </a:solidFill>
                <a:latin typeface="Microsoft YaHei"/>
              </a:defRPr>
            </a:pPr>
            <a:r>
              <a:t>测试、说明、汇报和演示步骤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6459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700" b="1">
                <a:solidFill>
                  <a:srgbClr val="49E2BE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237744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400" b="0">
                <a:solidFill>
                  <a:srgbClr val="EDF4FC"/>
                </a:solidFill>
                <a:latin typeface="Microsoft YaHei"/>
              </a:defRPr>
            </a:pPr>
            <a:r>
              <a:t>真实模型任务集评测</a:t>
            </a:r>
          </a:p>
          <a:p>
            <a:pPr>
              <a:spcAft>
                <a:spcPts val="1500"/>
              </a:spcAft>
              <a:defRPr sz="2400" b="0">
                <a:solidFill>
                  <a:srgbClr val="EDF4FC"/>
                </a:solidFill>
                <a:latin typeface="Microsoft YaHei"/>
              </a:defRPr>
            </a:pPr>
            <a:r>
              <a:t>明确课题与单位映射</a:t>
            </a:r>
          </a:p>
          <a:p>
            <a:pPr>
              <a:spcAft>
                <a:spcPts val="1500"/>
              </a:spcAft>
              <a:defRPr sz="2400" b="0">
                <a:solidFill>
                  <a:srgbClr val="EDF4FC"/>
                </a:solidFill>
                <a:latin typeface="Microsoft YaHei"/>
              </a:defRPr>
            </a:pPr>
            <a:r>
              <a:t>更多收敛检查与设备数据验证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2578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0">
                <a:solidFill>
                  <a:srgbClr val="A8B9CD"/>
                </a:solidFill>
                <a:latin typeface="Microsoft YaHei"/>
              </a:defRPr>
            </a:pPr>
            <a:r>
              <a:t>尚无公开仓库与云端网址；团队信息与公开权限需补齐。</a:t>
            </a:r>
          </a:p>
          <a:p>
            <a:pPr>
              <a:spcAft>
                <a:spcPts val="1500"/>
              </a:spcAft>
              <a:defRPr sz="2000" b="0">
                <a:solidFill>
                  <a:srgbClr val="A8B9CD"/>
                </a:solidFill>
                <a:latin typeface="Microsoft YaHei"/>
              </a:defRPr>
            </a:pPr>
            <a:r>
              <a:t>暂不支持扫描PDF OCR、自动新建方程、混沌判定或工程安全结论。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502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300" b="0">
                <a:solidFill>
                  <a:srgbClr val="A8B9CD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